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59" r:id="rId4"/>
    <p:sldId id="260" r:id="rId5"/>
    <p:sldId id="264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6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6" autoAdjust="0"/>
    <p:restoredTop sz="65166" autoAdjust="0"/>
  </p:normalViewPr>
  <p:slideViewPr>
    <p:cSldViewPr snapToGrid="0">
      <p:cViewPr varScale="1">
        <p:scale>
          <a:sx n="81" d="100"/>
          <a:sy n="81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C02A0B-763F-4557-ACA5-0FF1C3949547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18F7562A-936C-4136-92D7-A81DC1778A03}">
      <dgm:prSet phldrT="[Text]" phldr="0" custT="1"/>
      <dgm:spPr/>
      <dgm:t>
        <a:bodyPr/>
        <a:lstStyle/>
        <a:p>
          <a:r>
            <a:rPr lang="en-SG" sz="1400" b="1" dirty="0"/>
            <a:t>Raw CSV</a:t>
          </a:r>
        </a:p>
      </dgm:t>
    </dgm:pt>
    <dgm:pt modelId="{A910A1AC-3AD8-4E83-80FD-499BD4130A9A}" type="parTrans" cxnId="{E4FCBA24-70E7-4786-8B3C-68DE75BB7D4E}">
      <dgm:prSet/>
      <dgm:spPr/>
      <dgm:t>
        <a:bodyPr/>
        <a:lstStyle/>
        <a:p>
          <a:endParaRPr lang="en-SG" sz="1400"/>
        </a:p>
      </dgm:t>
    </dgm:pt>
    <dgm:pt modelId="{54BAA351-C6DF-4519-95D7-18CF2FD8F3C6}" type="sibTrans" cxnId="{E4FCBA24-70E7-4786-8B3C-68DE75BB7D4E}">
      <dgm:prSet custT="1"/>
      <dgm:spPr/>
      <dgm:t>
        <a:bodyPr/>
        <a:lstStyle/>
        <a:p>
          <a:endParaRPr lang="en-SG" sz="1400"/>
        </a:p>
      </dgm:t>
    </dgm:pt>
    <dgm:pt modelId="{8F31B09E-E141-4A88-88F4-A2B061B73DBB}">
      <dgm:prSet phldrT="[Text]" phldr="0" custT="1"/>
      <dgm:spPr/>
      <dgm:t>
        <a:bodyPr/>
        <a:lstStyle/>
        <a:p>
          <a:r>
            <a:rPr lang="en-SG" sz="1400" b="1" dirty="0"/>
            <a:t>create_database.py</a:t>
          </a:r>
        </a:p>
      </dgm:t>
    </dgm:pt>
    <dgm:pt modelId="{0F83AB5D-3BCE-48A6-AEFC-0676507A32ED}" type="parTrans" cxnId="{6AD2D033-75DE-4A06-AA11-A0E8ACCB75CE}">
      <dgm:prSet/>
      <dgm:spPr/>
      <dgm:t>
        <a:bodyPr/>
        <a:lstStyle/>
        <a:p>
          <a:endParaRPr lang="en-SG" sz="1400"/>
        </a:p>
      </dgm:t>
    </dgm:pt>
    <dgm:pt modelId="{2895B68D-6573-43AB-AAA7-722EB4846FF2}" type="sibTrans" cxnId="{6AD2D033-75DE-4A06-AA11-A0E8ACCB75CE}">
      <dgm:prSet custT="1"/>
      <dgm:spPr/>
      <dgm:t>
        <a:bodyPr/>
        <a:lstStyle/>
        <a:p>
          <a:endParaRPr lang="en-SG" sz="1400"/>
        </a:p>
      </dgm:t>
    </dgm:pt>
    <dgm:pt modelId="{7906F10B-7BFE-47DE-B13C-6B566C568F5A}">
      <dgm:prSet phldrT="[Text]" phldr="0" custT="1"/>
      <dgm:spPr/>
      <dgm:t>
        <a:bodyPr/>
        <a:lstStyle/>
        <a:p>
          <a:r>
            <a:rPr lang="en-SG" sz="1400" b="1" dirty="0" err="1"/>
            <a:t>jobs.duckdb</a:t>
          </a:r>
          <a:endParaRPr lang="en-SG" sz="1400" b="1" dirty="0"/>
        </a:p>
      </dgm:t>
    </dgm:pt>
    <dgm:pt modelId="{D36D56C8-EEF9-4CD2-8425-D62F14577A88}" type="parTrans" cxnId="{007613F4-6DA2-46CF-9C83-2791EC2EE888}">
      <dgm:prSet/>
      <dgm:spPr/>
      <dgm:t>
        <a:bodyPr/>
        <a:lstStyle/>
        <a:p>
          <a:endParaRPr lang="en-SG" sz="1400"/>
        </a:p>
      </dgm:t>
    </dgm:pt>
    <dgm:pt modelId="{8F40B76D-84AE-428D-B4D2-860D53C5258A}" type="sibTrans" cxnId="{007613F4-6DA2-46CF-9C83-2791EC2EE888}">
      <dgm:prSet custT="1"/>
      <dgm:spPr/>
      <dgm:t>
        <a:bodyPr/>
        <a:lstStyle/>
        <a:p>
          <a:endParaRPr lang="en-SG" sz="1400"/>
        </a:p>
      </dgm:t>
    </dgm:pt>
    <dgm:pt modelId="{3F75FFFF-2CFE-4328-980C-F629B67CCC7A}">
      <dgm:prSet phldrT="[Text]" phldr="0" custT="1"/>
      <dgm:spPr/>
      <dgm:t>
        <a:bodyPr/>
        <a:lstStyle/>
        <a:p>
          <a:r>
            <a:rPr lang="en-SG" sz="1400" b="1" dirty="0"/>
            <a:t>Create Views for analysis</a:t>
          </a:r>
        </a:p>
      </dgm:t>
    </dgm:pt>
    <dgm:pt modelId="{91C47C0F-A028-4E1B-89CE-5855FF48D69D}" type="parTrans" cxnId="{CA07FD14-1871-46B3-B276-1290B0B569B7}">
      <dgm:prSet/>
      <dgm:spPr/>
      <dgm:t>
        <a:bodyPr/>
        <a:lstStyle/>
        <a:p>
          <a:endParaRPr lang="en-SG" sz="1400"/>
        </a:p>
      </dgm:t>
    </dgm:pt>
    <dgm:pt modelId="{9198970B-5063-4BC9-91AB-67EE082FD929}" type="sibTrans" cxnId="{CA07FD14-1871-46B3-B276-1290B0B569B7}">
      <dgm:prSet custT="1"/>
      <dgm:spPr/>
      <dgm:t>
        <a:bodyPr/>
        <a:lstStyle/>
        <a:p>
          <a:endParaRPr lang="en-SG" sz="1400"/>
        </a:p>
      </dgm:t>
    </dgm:pt>
    <dgm:pt modelId="{EDEA078D-3AB2-4D47-8376-060418AF904D}">
      <dgm:prSet phldrT="[Text]" phldr="0" custT="1"/>
      <dgm:spPr/>
      <dgm:t>
        <a:bodyPr/>
        <a:lstStyle/>
        <a:p>
          <a:r>
            <a:rPr lang="en-SG" sz="1400" b="1" dirty="0" err="1"/>
            <a:t>query_database.ipynb</a:t>
          </a:r>
          <a:endParaRPr lang="en-SG" sz="1400" b="1" dirty="0"/>
        </a:p>
      </dgm:t>
    </dgm:pt>
    <dgm:pt modelId="{62C20019-AF61-4597-8F8B-8653D6D6CE13}" type="parTrans" cxnId="{3197A839-A7AD-41D0-815F-2C708F3BE9B1}">
      <dgm:prSet/>
      <dgm:spPr/>
      <dgm:t>
        <a:bodyPr/>
        <a:lstStyle/>
        <a:p>
          <a:endParaRPr lang="en-SG" sz="1400"/>
        </a:p>
      </dgm:t>
    </dgm:pt>
    <dgm:pt modelId="{B6D77523-543F-41DD-8085-E3FE67EF932D}" type="sibTrans" cxnId="{3197A839-A7AD-41D0-815F-2C708F3BE9B1}">
      <dgm:prSet custT="1"/>
      <dgm:spPr/>
      <dgm:t>
        <a:bodyPr/>
        <a:lstStyle/>
        <a:p>
          <a:endParaRPr lang="en-SG" sz="1400"/>
        </a:p>
      </dgm:t>
    </dgm:pt>
    <dgm:pt modelId="{A55657E5-DB37-445F-A60E-CF104D1640ED}">
      <dgm:prSet phldrT="[Text]" phldr="0" custT="1"/>
      <dgm:spPr/>
      <dgm:t>
        <a:bodyPr/>
        <a:lstStyle/>
        <a:p>
          <a:pPr algn="l"/>
          <a:r>
            <a:rPr lang="en-SG" sz="1400" b="1" dirty="0" err="1"/>
            <a:t>Streamlit</a:t>
          </a:r>
          <a:r>
            <a:rPr lang="en-SG" sz="1400" b="1" dirty="0"/>
            <a:t> dashboard: app.py</a:t>
          </a:r>
        </a:p>
      </dgm:t>
    </dgm:pt>
    <dgm:pt modelId="{DA8D0C52-2771-432B-8D8F-C10EDF5054DA}" type="parTrans" cxnId="{A15A9721-772F-4670-986B-5158CE946642}">
      <dgm:prSet/>
      <dgm:spPr/>
      <dgm:t>
        <a:bodyPr/>
        <a:lstStyle/>
        <a:p>
          <a:endParaRPr lang="en-SG" sz="1400"/>
        </a:p>
      </dgm:t>
    </dgm:pt>
    <dgm:pt modelId="{C2F95023-C3B3-45E4-9DBA-46DDC97469AB}" type="sibTrans" cxnId="{A15A9721-772F-4670-986B-5158CE946642}">
      <dgm:prSet/>
      <dgm:spPr/>
      <dgm:t>
        <a:bodyPr/>
        <a:lstStyle/>
        <a:p>
          <a:endParaRPr lang="en-SG" sz="1400"/>
        </a:p>
      </dgm:t>
    </dgm:pt>
    <dgm:pt modelId="{BEA1D4DA-EAD5-45FC-ACFB-E1E6C3D65178}">
      <dgm:prSet phldrT="[Text]" phldr="0" custT="1"/>
      <dgm:spPr/>
      <dgm:t>
        <a:bodyPr/>
        <a:lstStyle/>
        <a:p>
          <a:r>
            <a:rPr lang="en-SG" sz="1400" dirty="0"/>
            <a:t>SG job posting data</a:t>
          </a:r>
        </a:p>
      </dgm:t>
    </dgm:pt>
    <dgm:pt modelId="{D86DE3FE-63AA-4A73-A4D4-2C169D4F3887}" type="parTrans" cxnId="{CB26A4B5-5B60-4041-8BDB-CDB39FD70581}">
      <dgm:prSet/>
      <dgm:spPr/>
      <dgm:t>
        <a:bodyPr/>
        <a:lstStyle/>
        <a:p>
          <a:endParaRPr lang="en-SG" sz="1400"/>
        </a:p>
      </dgm:t>
    </dgm:pt>
    <dgm:pt modelId="{0F29E09B-8B9C-417F-B7C0-D0E61F4A1CA1}" type="sibTrans" cxnId="{CB26A4B5-5B60-4041-8BDB-CDB39FD70581}">
      <dgm:prSet/>
      <dgm:spPr/>
      <dgm:t>
        <a:bodyPr/>
        <a:lstStyle/>
        <a:p>
          <a:endParaRPr lang="en-SG" sz="1400"/>
        </a:p>
      </dgm:t>
    </dgm:pt>
    <dgm:pt modelId="{C56F5DF3-1665-4602-ACD3-AAAF12178E8D}">
      <dgm:prSet phldrT="[Text]" phldr="0" custT="1"/>
      <dgm:spPr/>
      <dgm:t>
        <a:bodyPr/>
        <a:lstStyle/>
        <a:p>
          <a:r>
            <a:rPr lang="en-GB" sz="1400" dirty="0"/>
            <a:t>Loads CSV, cleans fields, parses categories, and creates database tables</a:t>
          </a:r>
          <a:endParaRPr lang="en-SG" sz="1400" dirty="0"/>
        </a:p>
      </dgm:t>
    </dgm:pt>
    <dgm:pt modelId="{5EE3EDFF-8E43-4E67-B736-011D33D701EC}" type="parTrans" cxnId="{7EDEBA98-D8AF-437A-B899-B92FED6DBEF7}">
      <dgm:prSet/>
      <dgm:spPr/>
      <dgm:t>
        <a:bodyPr/>
        <a:lstStyle/>
        <a:p>
          <a:endParaRPr lang="en-SG" sz="1400"/>
        </a:p>
      </dgm:t>
    </dgm:pt>
    <dgm:pt modelId="{2BC64E9F-D010-4E9F-86E0-F7ED523AC75A}" type="sibTrans" cxnId="{7EDEBA98-D8AF-437A-B899-B92FED6DBEF7}">
      <dgm:prSet/>
      <dgm:spPr/>
      <dgm:t>
        <a:bodyPr/>
        <a:lstStyle/>
        <a:p>
          <a:endParaRPr lang="en-SG" sz="1400"/>
        </a:p>
      </dgm:t>
    </dgm:pt>
    <dgm:pt modelId="{139D4A58-7862-412F-9B1C-97E5EEEDEEA9}">
      <dgm:prSet phldrT="[Text]" phldr="0" custT="1"/>
      <dgm:spPr/>
      <dgm:t>
        <a:bodyPr/>
        <a:lstStyle/>
        <a:p>
          <a:r>
            <a:rPr lang="en-GB" sz="1400" dirty="0"/>
            <a:t>Stores clean relational tables produced by create_database.py</a:t>
          </a:r>
          <a:endParaRPr lang="en-SG" sz="1400" dirty="0"/>
        </a:p>
      </dgm:t>
    </dgm:pt>
    <dgm:pt modelId="{2B661270-A05D-40E8-B1F4-89C6E6815B12}" type="parTrans" cxnId="{106FECAE-3E5B-43E8-A1B5-D4B8BC036DB6}">
      <dgm:prSet/>
      <dgm:spPr/>
      <dgm:t>
        <a:bodyPr/>
        <a:lstStyle/>
        <a:p>
          <a:endParaRPr lang="en-SG" sz="1400"/>
        </a:p>
      </dgm:t>
    </dgm:pt>
    <dgm:pt modelId="{0258F624-5980-471E-91E7-FDA3FA53BDB6}" type="sibTrans" cxnId="{106FECAE-3E5B-43E8-A1B5-D4B8BC036DB6}">
      <dgm:prSet/>
      <dgm:spPr/>
      <dgm:t>
        <a:bodyPr/>
        <a:lstStyle/>
        <a:p>
          <a:endParaRPr lang="en-SG" sz="1400"/>
        </a:p>
      </dgm:t>
    </dgm:pt>
    <dgm:pt modelId="{2C0D5419-FC23-4E85-A4AA-EF79E9D6133C}">
      <dgm:prSet phldrT="[Text]" phldr="0" custT="1"/>
      <dgm:spPr/>
      <dgm:t>
        <a:bodyPr/>
        <a:lstStyle/>
        <a:p>
          <a:r>
            <a:rPr lang="en-GB" sz="1400" i="1" dirty="0" err="1"/>
            <a:t>vw_career_coach_jobs</a:t>
          </a:r>
          <a:r>
            <a:rPr lang="en-GB" sz="1400" i="1" dirty="0"/>
            <a:t>: </a:t>
          </a:r>
          <a:r>
            <a:rPr lang="en-GB" sz="1400" dirty="0"/>
            <a:t>dashboard-ready joined view
</a:t>
          </a:r>
          <a:r>
            <a:rPr lang="en-GB" sz="1400" i="1" dirty="0" err="1"/>
            <a:t>vw_talent_shortage_categories</a:t>
          </a:r>
          <a:r>
            <a:rPr lang="en-GB" sz="1400" i="1" dirty="0"/>
            <a:t>: </a:t>
          </a:r>
          <a:r>
            <a:rPr lang="en-GB" sz="1400" dirty="0"/>
            <a:t>category-level shortage summary</a:t>
          </a:r>
          <a:endParaRPr lang="en-SG" sz="1400" dirty="0"/>
        </a:p>
      </dgm:t>
    </dgm:pt>
    <dgm:pt modelId="{7818F8B4-37D4-44F9-856D-523A7CC907B8}" type="parTrans" cxnId="{B691C920-B8DC-4FF4-936A-5091E6AE0A69}">
      <dgm:prSet/>
      <dgm:spPr/>
      <dgm:t>
        <a:bodyPr/>
        <a:lstStyle/>
        <a:p>
          <a:endParaRPr lang="en-SG" sz="1400"/>
        </a:p>
      </dgm:t>
    </dgm:pt>
    <dgm:pt modelId="{A8A54EFB-3F3F-4296-ADA0-FF3EF76F4684}" type="sibTrans" cxnId="{B691C920-B8DC-4FF4-936A-5091E6AE0A69}">
      <dgm:prSet/>
      <dgm:spPr/>
      <dgm:t>
        <a:bodyPr/>
        <a:lstStyle/>
        <a:p>
          <a:endParaRPr lang="en-SG" sz="1400"/>
        </a:p>
      </dgm:t>
    </dgm:pt>
    <dgm:pt modelId="{1F5C4890-5165-485B-88B6-051904CFCF3F}">
      <dgm:prSet phldrT="[Text]" phldr="0" custT="1"/>
      <dgm:spPr/>
      <dgm:t>
        <a:bodyPr/>
        <a:lstStyle/>
        <a:p>
          <a:r>
            <a:rPr lang="en-GB" sz="1400" dirty="0"/>
            <a:t>Exploratory SQL analysis and insight generation</a:t>
          </a:r>
          <a:endParaRPr lang="en-SG" sz="1400" dirty="0"/>
        </a:p>
      </dgm:t>
    </dgm:pt>
    <dgm:pt modelId="{AD4B345A-37AF-4561-88FC-4EE481DD1FFE}" type="parTrans" cxnId="{5E4727A5-B43F-459F-A41E-F5B3020F7B1B}">
      <dgm:prSet/>
      <dgm:spPr/>
      <dgm:t>
        <a:bodyPr/>
        <a:lstStyle/>
        <a:p>
          <a:endParaRPr lang="en-SG" sz="1400"/>
        </a:p>
      </dgm:t>
    </dgm:pt>
    <dgm:pt modelId="{4394D5EF-6A4E-4D53-9704-A108D1346CFD}" type="sibTrans" cxnId="{5E4727A5-B43F-459F-A41E-F5B3020F7B1B}">
      <dgm:prSet/>
      <dgm:spPr/>
      <dgm:t>
        <a:bodyPr/>
        <a:lstStyle/>
        <a:p>
          <a:endParaRPr lang="en-SG" sz="1400"/>
        </a:p>
      </dgm:t>
    </dgm:pt>
    <dgm:pt modelId="{E4C4EFC0-8C8F-4F38-96B5-24888CCC2551}">
      <dgm:prSet phldrT="[Text]" phldr="0" custT="1"/>
      <dgm:spPr/>
      <dgm:t>
        <a:bodyPr/>
        <a:lstStyle/>
        <a:p>
          <a:pPr algn="l"/>
          <a:r>
            <a:rPr lang="en-GB" sz="1400" b="0" dirty="0"/>
            <a:t>Interactive </a:t>
          </a:r>
          <a:r>
            <a:rPr lang="en-GB" sz="1400" b="0" dirty="0" err="1"/>
            <a:t>Streamlit</a:t>
          </a:r>
          <a:r>
            <a:rPr lang="en-GB" sz="1400" b="0" dirty="0"/>
            <a:t> dashboard with filters, tables, charts, and score logic</a:t>
          </a:r>
          <a:endParaRPr lang="en-SG" sz="1400" b="0" dirty="0"/>
        </a:p>
        <a:p>
          <a:pPr algn="l"/>
          <a:endParaRPr lang="en-SG" sz="1400" b="1" dirty="0"/>
        </a:p>
      </dgm:t>
    </dgm:pt>
    <dgm:pt modelId="{011782DE-A073-467E-A1D7-45A4F43065D7}" type="parTrans" cxnId="{AF0D6979-4B4F-49C8-BAEC-26D561C20251}">
      <dgm:prSet/>
      <dgm:spPr/>
      <dgm:t>
        <a:bodyPr/>
        <a:lstStyle/>
        <a:p>
          <a:endParaRPr lang="en-SG"/>
        </a:p>
      </dgm:t>
    </dgm:pt>
    <dgm:pt modelId="{BAEAE3DB-20DC-42AC-BB77-9C795980CD80}" type="sibTrans" cxnId="{AF0D6979-4B4F-49C8-BAEC-26D561C20251}">
      <dgm:prSet/>
      <dgm:spPr/>
      <dgm:t>
        <a:bodyPr/>
        <a:lstStyle/>
        <a:p>
          <a:endParaRPr lang="en-SG"/>
        </a:p>
      </dgm:t>
    </dgm:pt>
    <dgm:pt modelId="{DDB13293-741F-4127-AE40-1C4E1232A39F}" type="pres">
      <dgm:prSet presAssocID="{68C02A0B-763F-4557-ACA5-0FF1C3949547}" presName="diagram" presStyleCnt="0">
        <dgm:presLayoutVars>
          <dgm:dir/>
          <dgm:resizeHandles val="exact"/>
        </dgm:presLayoutVars>
      </dgm:prSet>
      <dgm:spPr/>
    </dgm:pt>
    <dgm:pt modelId="{8EB517FC-0B51-4676-80AA-D65097DA43A6}" type="pres">
      <dgm:prSet presAssocID="{18F7562A-936C-4136-92D7-A81DC1778A03}" presName="node" presStyleLbl="node1" presStyleIdx="0" presStyleCnt="6">
        <dgm:presLayoutVars>
          <dgm:bulletEnabled val="1"/>
        </dgm:presLayoutVars>
      </dgm:prSet>
      <dgm:spPr/>
    </dgm:pt>
    <dgm:pt modelId="{57FBF189-3501-46F3-AB2E-65FBD65E9D21}" type="pres">
      <dgm:prSet presAssocID="{54BAA351-C6DF-4519-95D7-18CF2FD8F3C6}" presName="sibTrans" presStyleLbl="sibTrans2D1" presStyleIdx="0" presStyleCnt="5"/>
      <dgm:spPr/>
    </dgm:pt>
    <dgm:pt modelId="{BF6A418B-38F5-447F-A094-555E4238F5B3}" type="pres">
      <dgm:prSet presAssocID="{54BAA351-C6DF-4519-95D7-18CF2FD8F3C6}" presName="connectorText" presStyleLbl="sibTrans2D1" presStyleIdx="0" presStyleCnt="5"/>
      <dgm:spPr/>
    </dgm:pt>
    <dgm:pt modelId="{B32D1B31-3E42-4A29-8B37-0073516D8443}" type="pres">
      <dgm:prSet presAssocID="{8F31B09E-E141-4A88-88F4-A2B061B73DBB}" presName="node" presStyleLbl="node1" presStyleIdx="1" presStyleCnt="6">
        <dgm:presLayoutVars>
          <dgm:bulletEnabled val="1"/>
        </dgm:presLayoutVars>
      </dgm:prSet>
      <dgm:spPr/>
    </dgm:pt>
    <dgm:pt modelId="{933E7322-4333-415D-942D-4B6DA15AB018}" type="pres">
      <dgm:prSet presAssocID="{2895B68D-6573-43AB-AAA7-722EB4846FF2}" presName="sibTrans" presStyleLbl="sibTrans2D1" presStyleIdx="1" presStyleCnt="5"/>
      <dgm:spPr/>
    </dgm:pt>
    <dgm:pt modelId="{24C0BE6C-FF98-4A67-A447-CD2530DDD90B}" type="pres">
      <dgm:prSet presAssocID="{2895B68D-6573-43AB-AAA7-722EB4846FF2}" presName="connectorText" presStyleLbl="sibTrans2D1" presStyleIdx="1" presStyleCnt="5"/>
      <dgm:spPr/>
    </dgm:pt>
    <dgm:pt modelId="{00380C87-F618-4E01-A15F-75EFFC39D6ED}" type="pres">
      <dgm:prSet presAssocID="{7906F10B-7BFE-47DE-B13C-6B566C568F5A}" presName="node" presStyleLbl="node1" presStyleIdx="2" presStyleCnt="6" custScaleY="149242">
        <dgm:presLayoutVars>
          <dgm:bulletEnabled val="1"/>
        </dgm:presLayoutVars>
      </dgm:prSet>
      <dgm:spPr/>
    </dgm:pt>
    <dgm:pt modelId="{6C7EEBE4-BA21-4FDF-8038-F3227AFC7593}" type="pres">
      <dgm:prSet presAssocID="{8F40B76D-84AE-428D-B4D2-860D53C5258A}" presName="sibTrans" presStyleLbl="sibTrans2D1" presStyleIdx="2" presStyleCnt="5"/>
      <dgm:spPr/>
    </dgm:pt>
    <dgm:pt modelId="{FF361F39-4EC8-477A-962C-CB9559BA632D}" type="pres">
      <dgm:prSet presAssocID="{8F40B76D-84AE-428D-B4D2-860D53C5258A}" presName="connectorText" presStyleLbl="sibTrans2D1" presStyleIdx="2" presStyleCnt="5"/>
      <dgm:spPr/>
    </dgm:pt>
    <dgm:pt modelId="{00BD75CC-049E-4014-BD90-AA167FF0F56B}" type="pres">
      <dgm:prSet presAssocID="{3F75FFFF-2CFE-4328-980C-F629B67CCC7A}" presName="node" presStyleLbl="node1" presStyleIdx="3" presStyleCnt="6" custScaleY="132319">
        <dgm:presLayoutVars>
          <dgm:bulletEnabled val="1"/>
        </dgm:presLayoutVars>
      </dgm:prSet>
      <dgm:spPr/>
    </dgm:pt>
    <dgm:pt modelId="{949F5DE3-CB1A-49D4-A335-E8F4A66E5C29}" type="pres">
      <dgm:prSet presAssocID="{9198970B-5063-4BC9-91AB-67EE082FD929}" presName="sibTrans" presStyleLbl="sibTrans2D1" presStyleIdx="3" presStyleCnt="5"/>
      <dgm:spPr/>
    </dgm:pt>
    <dgm:pt modelId="{6299FD7E-0112-465F-A42F-4D8A9D6A8E4A}" type="pres">
      <dgm:prSet presAssocID="{9198970B-5063-4BC9-91AB-67EE082FD929}" presName="connectorText" presStyleLbl="sibTrans2D1" presStyleIdx="3" presStyleCnt="5"/>
      <dgm:spPr/>
    </dgm:pt>
    <dgm:pt modelId="{8FE3C614-1E26-46E9-A5FD-3C0E68796D6A}" type="pres">
      <dgm:prSet presAssocID="{EDEA078D-3AB2-4D47-8376-060418AF904D}" presName="node" presStyleLbl="node1" presStyleIdx="4" presStyleCnt="6" custScaleY="98736">
        <dgm:presLayoutVars>
          <dgm:bulletEnabled val="1"/>
        </dgm:presLayoutVars>
      </dgm:prSet>
      <dgm:spPr/>
    </dgm:pt>
    <dgm:pt modelId="{F4E68850-A9E1-4665-A644-DC7AF986C531}" type="pres">
      <dgm:prSet presAssocID="{B6D77523-543F-41DD-8085-E3FE67EF932D}" presName="sibTrans" presStyleLbl="sibTrans2D1" presStyleIdx="4" presStyleCnt="5"/>
      <dgm:spPr/>
    </dgm:pt>
    <dgm:pt modelId="{329564DD-209A-42B0-A6F5-8F0D4319A559}" type="pres">
      <dgm:prSet presAssocID="{B6D77523-543F-41DD-8085-E3FE67EF932D}" presName="connectorText" presStyleLbl="sibTrans2D1" presStyleIdx="4" presStyleCnt="5"/>
      <dgm:spPr/>
    </dgm:pt>
    <dgm:pt modelId="{782B2E4C-2663-46E7-B760-2634A31F24D7}" type="pres">
      <dgm:prSet presAssocID="{A55657E5-DB37-445F-A60E-CF104D1640ED}" presName="node" presStyleLbl="node1" presStyleIdx="5" presStyleCnt="6" custScaleY="121215">
        <dgm:presLayoutVars>
          <dgm:bulletEnabled val="1"/>
        </dgm:presLayoutVars>
      </dgm:prSet>
      <dgm:spPr/>
    </dgm:pt>
  </dgm:ptLst>
  <dgm:cxnLst>
    <dgm:cxn modelId="{E2D96811-160E-43D2-AA1F-7D2CC53FC3B4}" type="presOf" srcId="{9198970B-5063-4BC9-91AB-67EE082FD929}" destId="{6299FD7E-0112-465F-A42F-4D8A9D6A8E4A}" srcOrd="1" destOrd="0" presId="urn:microsoft.com/office/officeart/2005/8/layout/process5"/>
    <dgm:cxn modelId="{DA72BD14-2E90-4676-8A00-9DEE16B21B6B}" type="presOf" srcId="{EDEA078D-3AB2-4D47-8376-060418AF904D}" destId="{8FE3C614-1E26-46E9-A5FD-3C0E68796D6A}" srcOrd="0" destOrd="0" presId="urn:microsoft.com/office/officeart/2005/8/layout/process5"/>
    <dgm:cxn modelId="{CA07FD14-1871-46B3-B276-1290B0B569B7}" srcId="{68C02A0B-763F-4557-ACA5-0FF1C3949547}" destId="{3F75FFFF-2CFE-4328-980C-F629B67CCC7A}" srcOrd="3" destOrd="0" parTransId="{91C47C0F-A028-4E1B-89CE-5855FF48D69D}" sibTransId="{9198970B-5063-4BC9-91AB-67EE082FD929}"/>
    <dgm:cxn modelId="{B691C920-B8DC-4FF4-936A-5091E6AE0A69}" srcId="{3F75FFFF-2CFE-4328-980C-F629B67CCC7A}" destId="{2C0D5419-FC23-4E85-A4AA-EF79E9D6133C}" srcOrd="0" destOrd="0" parTransId="{7818F8B4-37D4-44F9-856D-523A7CC907B8}" sibTransId="{A8A54EFB-3F3F-4296-ADA0-FF3EF76F4684}"/>
    <dgm:cxn modelId="{A15A9721-772F-4670-986B-5158CE946642}" srcId="{68C02A0B-763F-4557-ACA5-0FF1C3949547}" destId="{A55657E5-DB37-445F-A60E-CF104D1640ED}" srcOrd="5" destOrd="0" parTransId="{DA8D0C52-2771-432B-8D8F-C10EDF5054DA}" sibTransId="{C2F95023-C3B3-45E4-9DBA-46DDC97469AB}"/>
    <dgm:cxn modelId="{E4FCBA24-70E7-4786-8B3C-68DE75BB7D4E}" srcId="{68C02A0B-763F-4557-ACA5-0FF1C3949547}" destId="{18F7562A-936C-4136-92D7-A81DC1778A03}" srcOrd="0" destOrd="0" parTransId="{A910A1AC-3AD8-4E83-80FD-499BD4130A9A}" sibTransId="{54BAA351-C6DF-4519-95D7-18CF2FD8F3C6}"/>
    <dgm:cxn modelId="{6AD2D033-75DE-4A06-AA11-A0E8ACCB75CE}" srcId="{68C02A0B-763F-4557-ACA5-0FF1C3949547}" destId="{8F31B09E-E141-4A88-88F4-A2B061B73DBB}" srcOrd="1" destOrd="0" parTransId="{0F83AB5D-3BCE-48A6-AEFC-0676507A32ED}" sibTransId="{2895B68D-6573-43AB-AAA7-722EB4846FF2}"/>
    <dgm:cxn modelId="{3625A535-5C74-434E-BC03-1A35635D602F}" type="presOf" srcId="{68C02A0B-763F-4557-ACA5-0FF1C3949547}" destId="{DDB13293-741F-4127-AE40-1C4E1232A39F}" srcOrd="0" destOrd="0" presId="urn:microsoft.com/office/officeart/2005/8/layout/process5"/>
    <dgm:cxn modelId="{3197A839-A7AD-41D0-815F-2C708F3BE9B1}" srcId="{68C02A0B-763F-4557-ACA5-0FF1C3949547}" destId="{EDEA078D-3AB2-4D47-8376-060418AF904D}" srcOrd="4" destOrd="0" parTransId="{62C20019-AF61-4597-8F8B-8653D6D6CE13}" sibTransId="{B6D77523-543F-41DD-8085-E3FE67EF932D}"/>
    <dgm:cxn modelId="{82ADF73F-6D0C-4772-9508-313F33CD7E74}" type="presOf" srcId="{8F40B76D-84AE-428D-B4D2-860D53C5258A}" destId="{FF361F39-4EC8-477A-962C-CB9559BA632D}" srcOrd="1" destOrd="0" presId="urn:microsoft.com/office/officeart/2005/8/layout/process5"/>
    <dgm:cxn modelId="{8222EC5C-6F27-4ADF-9B56-67C649A86BBA}" type="presOf" srcId="{18F7562A-936C-4136-92D7-A81DC1778A03}" destId="{8EB517FC-0B51-4676-80AA-D65097DA43A6}" srcOrd="0" destOrd="0" presId="urn:microsoft.com/office/officeart/2005/8/layout/process5"/>
    <dgm:cxn modelId="{7852436F-9F32-4055-9667-0D8F4396EC50}" type="presOf" srcId="{2895B68D-6573-43AB-AAA7-722EB4846FF2}" destId="{933E7322-4333-415D-942D-4B6DA15AB018}" srcOrd="0" destOrd="0" presId="urn:microsoft.com/office/officeart/2005/8/layout/process5"/>
    <dgm:cxn modelId="{AF0D6979-4B4F-49C8-BAEC-26D561C20251}" srcId="{A55657E5-DB37-445F-A60E-CF104D1640ED}" destId="{E4C4EFC0-8C8F-4F38-96B5-24888CCC2551}" srcOrd="0" destOrd="0" parTransId="{011782DE-A073-467E-A1D7-45A4F43065D7}" sibTransId="{BAEAE3DB-20DC-42AC-BB77-9C795980CD80}"/>
    <dgm:cxn modelId="{E4F3B781-1FC9-4B21-81C1-C4DC57BE0142}" type="presOf" srcId="{B6D77523-543F-41DD-8085-E3FE67EF932D}" destId="{329564DD-209A-42B0-A6F5-8F0D4319A559}" srcOrd="1" destOrd="0" presId="urn:microsoft.com/office/officeart/2005/8/layout/process5"/>
    <dgm:cxn modelId="{69EAAD87-BB66-444F-ADC7-C4F86B71AD83}" type="presOf" srcId="{B6D77523-543F-41DD-8085-E3FE67EF932D}" destId="{F4E68850-A9E1-4665-A644-DC7AF986C531}" srcOrd="0" destOrd="0" presId="urn:microsoft.com/office/officeart/2005/8/layout/process5"/>
    <dgm:cxn modelId="{6FDA0D98-B37E-4019-99C3-21B025977681}" type="presOf" srcId="{2C0D5419-FC23-4E85-A4AA-EF79E9D6133C}" destId="{00BD75CC-049E-4014-BD90-AA167FF0F56B}" srcOrd="0" destOrd="1" presId="urn:microsoft.com/office/officeart/2005/8/layout/process5"/>
    <dgm:cxn modelId="{7EDEBA98-D8AF-437A-B899-B92FED6DBEF7}" srcId="{8F31B09E-E141-4A88-88F4-A2B061B73DBB}" destId="{C56F5DF3-1665-4602-ACD3-AAAF12178E8D}" srcOrd="0" destOrd="0" parTransId="{5EE3EDFF-8E43-4E67-B736-011D33D701EC}" sibTransId="{2BC64E9F-D010-4E9F-86E0-F7ED523AC75A}"/>
    <dgm:cxn modelId="{A2D9D7A0-9021-4530-87FE-2D57AE3A28C5}" type="presOf" srcId="{BEA1D4DA-EAD5-45FC-ACFB-E1E6C3D65178}" destId="{8EB517FC-0B51-4676-80AA-D65097DA43A6}" srcOrd="0" destOrd="1" presId="urn:microsoft.com/office/officeart/2005/8/layout/process5"/>
    <dgm:cxn modelId="{5E4727A5-B43F-459F-A41E-F5B3020F7B1B}" srcId="{EDEA078D-3AB2-4D47-8376-060418AF904D}" destId="{1F5C4890-5165-485B-88B6-051904CFCF3F}" srcOrd="0" destOrd="0" parTransId="{AD4B345A-37AF-4561-88FC-4EE481DD1FFE}" sibTransId="{4394D5EF-6A4E-4D53-9704-A108D1346CFD}"/>
    <dgm:cxn modelId="{72A8BFA6-0DA8-4383-A791-3FE2DE471C56}" type="presOf" srcId="{E4C4EFC0-8C8F-4F38-96B5-24888CCC2551}" destId="{782B2E4C-2663-46E7-B760-2634A31F24D7}" srcOrd="0" destOrd="1" presId="urn:microsoft.com/office/officeart/2005/8/layout/process5"/>
    <dgm:cxn modelId="{106FECAE-3E5B-43E8-A1B5-D4B8BC036DB6}" srcId="{7906F10B-7BFE-47DE-B13C-6B566C568F5A}" destId="{139D4A58-7862-412F-9B1C-97E5EEEDEEA9}" srcOrd="0" destOrd="0" parTransId="{2B661270-A05D-40E8-B1F4-89C6E6815B12}" sibTransId="{0258F624-5980-471E-91E7-FDA3FA53BDB6}"/>
    <dgm:cxn modelId="{B1D7AEB2-C791-4098-B5DD-902DCFDC95A9}" type="presOf" srcId="{3F75FFFF-2CFE-4328-980C-F629B67CCC7A}" destId="{00BD75CC-049E-4014-BD90-AA167FF0F56B}" srcOrd="0" destOrd="0" presId="urn:microsoft.com/office/officeart/2005/8/layout/process5"/>
    <dgm:cxn modelId="{CB26A4B5-5B60-4041-8BDB-CDB39FD70581}" srcId="{18F7562A-936C-4136-92D7-A81DC1778A03}" destId="{BEA1D4DA-EAD5-45FC-ACFB-E1E6C3D65178}" srcOrd="0" destOrd="0" parTransId="{D86DE3FE-63AA-4A73-A4D4-2C169D4F3887}" sibTransId="{0F29E09B-8B9C-417F-B7C0-D0E61F4A1CA1}"/>
    <dgm:cxn modelId="{957D3DB7-914B-4B98-B8C6-34C6E5EE20BC}" type="presOf" srcId="{7906F10B-7BFE-47DE-B13C-6B566C568F5A}" destId="{00380C87-F618-4E01-A15F-75EFFC39D6ED}" srcOrd="0" destOrd="0" presId="urn:microsoft.com/office/officeart/2005/8/layout/process5"/>
    <dgm:cxn modelId="{811672B8-B56B-45C1-866A-3ACC059868E2}" type="presOf" srcId="{8F40B76D-84AE-428D-B4D2-860D53C5258A}" destId="{6C7EEBE4-BA21-4FDF-8038-F3227AFC7593}" srcOrd="0" destOrd="0" presId="urn:microsoft.com/office/officeart/2005/8/layout/process5"/>
    <dgm:cxn modelId="{62A553C3-154E-4437-9BFC-CBD52E1EAB20}" type="presOf" srcId="{139D4A58-7862-412F-9B1C-97E5EEEDEEA9}" destId="{00380C87-F618-4E01-A15F-75EFFC39D6ED}" srcOrd="0" destOrd="1" presId="urn:microsoft.com/office/officeart/2005/8/layout/process5"/>
    <dgm:cxn modelId="{1E4242CD-513A-4846-826B-3F6EEF21A1E9}" type="presOf" srcId="{54BAA351-C6DF-4519-95D7-18CF2FD8F3C6}" destId="{57FBF189-3501-46F3-AB2E-65FBD65E9D21}" srcOrd="0" destOrd="0" presId="urn:microsoft.com/office/officeart/2005/8/layout/process5"/>
    <dgm:cxn modelId="{894D1DCF-205F-4823-9214-CA52685483F2}" type="presOf" srcId="{C56F5DF3-1665-4602-ACD3-AAAF12178E8D}" destId="{B32D1B31-3E42-4A29-8B37-0073516D8443}" srcOrd="0" destOrd="1" presId="urn:microsoft.com/office/officeart/2005/8/layout/process5"/>
    <dgm:cxn modelId="{0990D5D1-1AFE-4F80-AD2E-5030C94A4328}" type="presOf" srcId="{2895B68D-6573-43AB-AAA7-722EB4846FF2}" destId="{24C0BE6C-FF98-4A67-A447-CD2530DDD90B}" srcOrd="1" destOrd="0" presId="urn:microsoft.com/office/officeart/2005/8/layout/process5"/>
    <dgm:cxn modelId="{C44C28D6-D760-4F3F-99C9-2EBFAF99A0A3}" type="presOf" srcId="{8F31B09E-E141-4A88-88F4-A2B061B73DBB}" destId="{B32D1B31-3E42-4A29-8B37-0073516D8443}" srcOrd="0" destOrd="0" presId="urn:microsoft.com/office/officeart/2005/8/layout/process5"/>
    <dgm:cxn modelId="{595778DC-6768-4316-896D-978BFFFDBA0D}" type="presOf" srcId="{A55657E5-DB37-445F-A60E-CF104D1640ED}" destId="{782B2E4C-2663-46E7-B760-2634A31F24D7}" srcOrd="0" destOrd="0" presId="urn:microsoft.com/office/officeart/2005/8/layout/process5"/>
    <dgm:cxn modelId="{927878F0-97D2-40C2-817B-7499CA309633}" type="presOf" srcId="{9198970B-5063-4BC9-91AB-67EE082FD929}" destId="{949F5DE3-CB1A-49D4-A335-E8F4A66E5C29}" srcOrd="0" destOrd="0" presId="urn:microsoft.com/office/officeart/2005/8/layout/process5"/>
    <dgm:cxn modelId="{AB21D4F0-72F1-49E9-91C6-BAF8BD23EE4B}" type="presOf" srcId="{1F5C4890-5165-485B-88B6-051904CFCF3F}" destId="{8FE3C614-1E26-46E9-A5FD-3C0E68796D6A}" srcOrd="0" destOrd="1" presId="urn:microsoft.com/office/officeart/2005/8/layout/process5"/>
    <dgm:cxn modelId="{007613F4-6DA2-46CF-9C83-2791EC2EE888}" srcId="{68C02A0B-763F-4557-ACA5-0FF1C3949547}" destId="{7906F10B-7BFE-47DE-B13C-6B566C568F5A}" srcOrd="2" destOrd="0" parTransId="{D36D56C8-EEF9-4CD2-8425-D62F14577A88}" sibTransId="{8F40B76D-84AE-428D-B4D2-860D53C5258A}"/>
    <dgm:cxn modelId="{E7247CF4-E455-4360-9283-C715A8ED4293}" type="presOf" srcId="{54BAA351-C6DF-4519-95D7-18CF2FD8F3C6}" destId="{BF6A418B-38F5-447F-A094-555E4238F5B3}" srcOrd="1" destOrd="0" presId="urn:microsoft.com/office/officeart/2005/8/layout/process5"/>
    <dgm:cxn modelId="{8D8BF49C-8F62-43CC-9AB0-4486E01A4C4F}" type="presParOf" srcId="{DDB13293-741F-4127-AE40-1C4E1232A39F}" destId="{8EB517FC-0B51-4676-80AA-D65097DA43A6}" srcOrd="0" destOrd="0" presId="urn:microsoft.com/office/officeart/2005/8/layout/process5"/>
    <dgm:cxn modelId="{E2639C85-1437-4857-9D20-4CC017D85DAC}" type="presParOf" srcId="{DDB13293-741F-4127-AE40-1C4E1232A39F}" destId="{57FBF189-3501-46F3-AB2E-65FBD65E9D21}" srcOrd="1" destOrd="0" presId="urn:microsoft.com/office/officeart/2005/8/layout/process5"/>
    <dgm:cxn modelId="{516E70A4-7939-48E9-B8E4-A92BE3C9BA53}" type="presParOf" srcId="{57FBF189-3501-46F3-AB2E-65FBD65E9D21}" destId="{BF6A418B-38F5-447F-A094-555E4238F5B3}" srcOrd="0" destOrd="0" presId="urn:microsoft.com/office/officeart/2005/8/layout/process5"/>
    <dgm:cxn modelId="{7897E521-5C0A-4D5C-8153-0412D1124F69}" type="presParOf" srcId="{DDB13293-741F-4127-AE40-1C4E1232A39F}" destId="{B32D1B31-3E42-4A29-8B37-0073516D8443}" srcOrd="2" destOrd="0" presId="urn:microsoft.com/office/officeart/2005/8/layout/process5"/>
    <dgm:cxn modelId="{C3B8C732-14B5-47DD-A875-6E97206766A1}" type="presParOf" srcId="{DDB13293-741F-4127-AE40-1C4E1232A39F}" destId="{933E7322-4333-415D-942D-4B6DA15AB018}" srcOrd="3" destOrd="0" presId="urn:microsoft.com/office/officeart/2005/8/layout/process5"/>
    <dgm:cxn modelId="{7C39CCCA-64B3-4DC8-9EAB-FC9C621CA368}" type="presParOf" srcId="{933E7322-4333-415D-942D-4B6DA15AB018}" destId="{24C0BE6C-FF98-4A67-A447-CD2530DDD90B}" srcOrd="0" destOrd="0" presId="urn:microsoft.com/office/officeart/2005/8/layout/process5"/>
    <dgm:cxn modelId="{169DBC5C-08CE-4F03-B1F1-2D80DF6B4B95}" type="presParOf" srcId="{DDB13293-741F-4127-AE40-1C4E1232A39F}" destId="{00380C87-F618-4E01-A15F-75EFFC39D6ED}" srcOrd="4" destOrd="0" presId="urn:microsoft.com/office/officeart/2005/8/layout/process5"/>
    <dgm:cxn modelId="{C1952DF1-EAA9-48C9-BCFC-D667A1F82D6C}" type="presParOf" srcId="{DDB13293-741F-4127-AE40-1C4E1232A39F}" destId="{6C7EEBE4-BA21-4FDF-8038-F3227AFC7593}" srcOrd="5" destOrd="0" presId="urn:microsoft.com/office/officeart/2005/8/layout/process5"/>
    <dgm:cxn modelId="{462CF7A8-3DDC-4DF1-AB6C-7A8AEAE30375}" type="presParOf" srcId="{6C7EEBE4-BA21-4FDF-8038-F3227AFC7593}" destId="{FF361F39-4EC8-477A-962C-CB9559BA632D}" srcOrd="0" destOrd="0" presId="urn:microsoft.com/office/officeart/2005/8/layout/process5"/>
    <dgm:cxn modelId="{DDF24DA2-DA55-49C5-84EE-620D0EA17FAC}" type="presParOf" srcId="{DDB13293-741F-4127-AE40-1C4E1232A39F}" destId="{00BD75CC-049E-4014-BD90-AA167FF0F56B}" srcOrd="6" destOrd="0" presId="urn:microsoft.com/office/officeart/2005/8/layout/process5"/>
    <dgm:cxn modelId="{4FC95419-F656-44A0-A1AE-A5DE100A1750}" type="presParOf" srcId="{DDB13293-741F-4127-AE40-1C4E1232A39F}" destId="{949F5DE3-CB1A-49D4-A335-E8F4A66E5C29}" srcOrd="7" destOrd="0" presId="urn:microsoft.com/office/officeart/2005/8/layout/process5"/>
    <dgm:cxn modelId="{162663C4-220E-45A9-8980-D499A51C9773}" type="presParOf" srcId="{949F5DE3-CB1A-49D4-A335-E8F4A66E5C29}" destId="{6299FD7E-0112-465F-A42F-4D8A9D6A8E4A}" srcOrd="0" destOrd="0" presId="urn:microsoft.com/office/officeart/2005/8/layout/process5"/>
    <dgm:cxn modelId="{5C02F59C-9C9B-4D20-ADF9-9C8C79EEA7A5}" type="presParOf" srcId="{DDB13293-741F-4127-AE40-1C4E1232A39F}" destId="{8FE3C614-1E26-46E9-A5FD-3C0E68796D6A}" srcOrd="8" destOrd="0" presId="urn:microsoft.com/office/officeart/2005/8/layout/process5"/>
    <dgm:cxn modelId="{616D5637-F42A-4565-8631-82F119AF2A60}" type="presParOf" srcId="{DDB13293-741F-4127-AE40-1C4E1232A39F}" destId="{F4E68850-A9E1-4665-A644-DC7AF986C531}" srcOrd="9" destOrd="0" presId="urn:microsoft.com/office/officeart/2005/8/layout/process5"/>
    <dgm:cxn modelId="{DBF332AB-B036-43DC-B8F5-83EFFF814BDD}" type="presParOf" srcId="{F4E68850-A9E1-4665-A644-DC7AF986C531}" destId="{329564DD-209A-42B0-A6F5-8F0D4319A559}" srcOrd="0" destOrd="0" presId="urn:microsoft.com/office/officeart/2005/8/layout/process5"/>
    <dgm:cxn modelId="{E8AA00C6-CBAD-49AF-B411-104F1BF903FC}" type="presParOf" srcId="{DDB13293-741F-4127-AE40-1C4E1232A39F}" destId="{782B2E4C-2663-46E7-B760-2634A31F24D7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517FC-0B51-4676-80AA-D65097DA43A6}">
      <dsp:nvSpPr>
        <dsp:cNvPr id="0" name=""/>
        <dsp:cNvSpPr/>
      </dsp:nvSpPr>
      <dsp:spPr>
        <a:xfrm>
          <a:off x="1304687" y="322861"/>
          <a:ext cx="2183355" cy="13100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Raw CSV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400" kern="1200" dirty="0"/>
            <a:t>SG job posting data</a:t>
          </a:r>
        </a:p>
      </dsp:txBody>
      <dsp:txXfrm>
        <a:off x="1343056" y="361230"/>
        <a:ext cx="2106617" cy="1233275"/>
      </dsp:txXfrm>
    </dsp:sp>
    <dsp:sp modelId="{57FBF189-3501-46F3-AB2E-65FBD65E9D21}">
      <dsp:nvSpPr>
        <dsp:cNvPr id="0" name=""/>
        <dsp:cNvSpPr/>
      </dsp:nvSpPr>
      <dsp:spPr>
        <a:xfrm>
          <a:off x="3680178" y="707132"/>
          <a:ext cx="462871" cy="54147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3680178" y="815426"/>
        <a:ext cx="324010" cy="324884"/>
      </dsp:txXfrm>
    </dsp:sp>
    <dsp:sp modelId="{B32D1B31-3E42-4A29-8B37-0073516D8443}">
      <dsp:nvSpPr>
        <dsp:cNvPr id="0" name=""/>
        <dsp:cNvSpPr/>
      </dsp:nvSpPr>
      <dsp:spPr>
        <a:xfrm>
          <a:off x="4361384" y="322861"/>
          <a:ext cx="2183355" cy="13100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create_database.py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Loads CSV, cleans fields, parses categories, and creates database tables</a:t>
          </a:r>
          <a:endParaRPr lang="en-SG" sz="1400" kern="1200" dirty="0"/>
        </a:p>
      </dsp:txBody>
      <dsp:txXfrm>
        <a:off x="4399753" y="361230"/>
        <a:ext cx="2106617" cy="1233275"/>
      </dsp:txXfrm>
    </dsp:sp>
    <dsp:sp modelId="{933E7322-4333-415D-942D-4B6DA15AB018}">
      <dsp:nvSpPr>
        <dsp:cNvPr id="0" name=""/>
        <dsp:cNvSpPr/>
      </dsp:nvSpPr>
      <dsp:spPr>
        <a:xfrm>
          <a:off x="6736875" y="707132"/>
          <a:ext cx="462871" cy="54147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>
        <a:off x="6736875" y="815426"/>
        <a:ext cx="324010" cy="324884"/>
      </dsp:txXfrm>
    </dsp:sp>
    <dsp:sp modelId="{00380C87-F618-4E01-A15F-75EFFC39D6ED}">
      <dsp:nvSpPr>
        <dsp:cNvPr id="0" name=""/>
        <dsp:cNvSpPr/>
      </dsp:nvSpPr>
      <dsp:spPr>
        <a:xfrm>
          <a:off x="7418082" y="323"/>
          <a:ext cx="2183355" cy="195508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jobs.duckdb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Stores clean relational tables produced by create_database.py</a:t>
          </a:r>
          <a:endParaRPr lang="en-SG" sz="1400" kern="1200" dirty="0"/>
        </a:p>
      </dsp:txBody>
      <dsp:txXfrm>
        <a:off x="7475345" y="57586"/>
        <a:ext cx="2068829" cy="1840563"/>
      </dsp:txXfrm>
    </dsp:sp>
    <dsp:sp modelId="{6C7EEBE4-BA21-4FDF-8038-F3227AFC7593}">
      <dsp:nvSpPr>
        <dsp:cNvPr id="0" name=""/>
        <dsp:cNvSpPr/>
      </dsp:nvSpPr>
      <dsp:spPr>
        <a:xfrm rot="5400000">
          <a:off x="8278324" y="2108248"/>
          <a:ext cx="462871" cy="54147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-5400000">
        <a:off x="8347318" y="2147549"/>
        <a:ext cx="324884" cy="324010"/>
      </dsp:txXfrm>
    </dsp:sp>
    <dsp:sp modelId="{00BD75CC-049E-4014-BD90-AA167FF0F56B}">
      <dsp:nvSpPr>
        <dsp:cNvPr id="0" name=""/>
        <dsp:cNvSpPr/>
      </dsp:nvSpPr>
      <dsp:spPr>
        <a:xfrm>
          <a:off x="7418082" y="2828755"/>
          <a:ext cx="2183355" cy="17333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/>
            <a:t>Create Views for analysis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i="1" kern="1200" dirty="0" err="1"/>
            <a:t>vw_career_coach_jobs</a:t>
          </a:r>
          <a:r>
            <a:rPr lang="en-GB" sz="1400" i="1" kern="1200" dirty="0"/>
            <a:t>: </a:t>
          </a:r>
          <a:r>
            <a:rPr lang="en-GB" sz="1400" kern="1200" dirty="0"/>
            <a:t>dashboard-ready joined view
</a:t>
          </a:r>
          <a:r>
            <a:rPr lang="en-GB" sz="1400" i="1" kern="1200" dirty="0" err="1"/>
            <a:t>vw_talent_shortage_categories</a:t>
          </a:r>
          <a:r>
            <a:rPr lang="en-GB" sz="1400" i="1" kern="1200" dirty="0"/>
            <a:t>: </a:t>
          </a:r>
          <a:r>
            <a:rPr lang="en-GB" sz="1400" kern="1200" dirty="0"/>
            <a:t>category-level shortage summary</a:t>
          </a:r>
          <a:endParaRPr lang="en-SG" sz="1400" kern="1200" dirty="0"/>
        </a:p>
      </dsp:txBody>
      <dsp:txXfrm>
        <a:off x="7468851" y="2879524"/>
        <a:ext cx="2081817" cy="1631858"/>
      </dsp:txXfrm>
    </dsp:sp>
    <dsp:sp modelId="{949F5DE3-CB1A-49D4-A335-E8F4A66E5C29}">
      <dsp:nvSpPr>
        <dsp:cNvPr id="0" name=""/>
        <dsp:cNvSpPr/>
      </dsp:nvSpPr>
      <dsp:spPr>
        <a:xfrm rot="10800000">
          <a:off x="6763075" y="3424717"/>
          <a:ext cx="462871" cy="54147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10800000">
        <a:off x="6901936" y="3533011"/>
        <a:ext cx="324010" cy="324884"/>
      </dsp:txXfrm>
    </dsp:sp>
    <dsp:sp modelId="{8FE3C614-1E26-46E9-A5FD-3C0E68796D6A}">
      <dsp:nvSpPr>
        <dsp:cNvPr id="0" name=""/>
        <dsp:cNvSpPr/>
      </dsp:nvSpPr>
      <dsp:spPr>
        <a:xfrm>
          <a:off x="4361384" y="3048726"/>
          <a:ext cx="2183355" cy="129345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query_database.ipynb</a:t>
          </a:r>
          <a:endParaRPr lang="en-SG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Exploratory SQL analysis and insight generation</a:t>
          </a:r>
          <a:endParaRPr lang="en-SG" sz="1400" kern="1200" dirty="0"/>
        </a:p>
      </dsp:txBody>
      <dsp:txXfrm>
        <a:off x="4399268" y="3086610"/>
        <a:ext cx="2107587" cy="1217686"/>
      </dsp:txXfrm>
    </dsp:sp>
    <dsp:sp modelId="{F4E68850-A9E1-4665-A644-DC7AF986C531}">
      <dsp:nvSpPr>
        <dsp:cNvPr id="0" name=""/>
        <dsp:cNvSpPr/>
      </dsp:nvSpPr>
      <dsp:spPr>
        <a:xfrm rot="10800000">
          <a:off x="3706378" y="3424717"/>
          <a:ext cx="462871" cy="54147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400" kern="1200"/>
        </a:p>
      </dsp:txBody>
      <dsp:txXfrm rot="10800000">
        <a:off x="3845239" y="3533011"/>
        <a:ext cx="324010" cy="324884"/>
      </dsp:txXfrm>
    </dsp:sp>
    <dsp:sp modelId="{782B2E4C-2663-46E7-B760-2634A31F24D7}">
      <dsp:nvSpPr>
        <dsp:cNvPr id="0" name=""/>
        <dsp:cNvSpPr/>
      </dsp:nvSpPr>
      <dsp:spPr>
        <a:xfrm>
          <a:off x="1304687" y="2901487"/>
          <a:ext cx="2183355" cy="1587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kern="1200" dirty="0" err="1"/>
            <a:t>Streamlit</a:t>
          </a:r>
          <a:r>
            <a:rPr lang="en-SG" sz="1400" b="1" kern="1200" dirty="0"/>
            <a:t> dashboard: app.py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kern="1200" dirty="0"/>
            <a:t>Interactive </a:t>
          </a:r>
          <a:r>
            <a:rPr lang="en-GB" sz="1400" b="0" kern="1200" dirty="0" err="1"/>
            <a:t>Streamlit</a:t>
          </a:r>
          <a:r>
            <a:rPr lang="en-GB" sz="1400" b="0" kern="1200" dirty="0"/>
            <a:t> dashboard with filters, tables, charts, and score logic</a:t>
          </a:r>
          <a:endParaRPr lang="en-SG" sz="1400" b="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SG" sz="1400" b="1" kern="1200" dirty="0"/>
        </a:p>
      </dsp:txBody>
      <dsp:txXfrm>
        <a:off x="1351196" y="2947996"/>
        <a:ext cx="2090337" cy="1494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96772-C6C0-4DB9-B104-9AF733F948EB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EF301-917E-42F7-AD4F-02B285FE43B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94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667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higher Demand Score means stronger job posting and vacancy volume.</a:t>
            </a:r>
            <a:br>
              <a:rPr lang="en-GB" dirty="0"/>
            </a:br>
            <a:r>
              <a:rPr lang="en-GB" dirty="0"/>
              <a:t>A higher Weak Interest Score means weaker applicant response, based on lower applications per vacancy and lower views per posting.</a:t>
            </a:r>
            <a:br>
              <a:rPr lang="en-GB" dirty="0"/>
            </a:br>
            <a:r>
              <a:rPr lang="en-GB" dirty="0"/>
              <a:t>A higher Talent Shortage Signal Score combines both signals.</a:t>
            </a:r>
          </a:p>
          <a:p>
            <a:r>
              <a:rPr lang="en-GB" dirty="0"/>
              <a:t>A higher Talent Shortage Signal Score means the category ranks higher on the combination of demand and weaker applicant response.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884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to Read the Talent Shortage Signal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A:</a:t>
            </a:r>
            <a:br>
              <a:rPr lang="en-GB" dirty="0"/>
            </a:br>
            <a:r>
              <a:rPr lang="en-GB" dirty="0"/>
              <a:t>High vacancies + low applications per vacancy + low salary</a:t>
            </a:r>
            <a:br>
              <a:rPr lang="en-GB" dirty="0"/>
            </a:br>
            <a:r>
              <a:rPr lang="en-GB" dirty="0"/>
              <a:t>→ possible under-attractive sector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B:</a:t>
            </a:r>
            <a:br>
              <a:rPr lang="en-GB" dirty="0"/>
            </a:br>
            <a:r>
              <a:rPr lang="en-GB" dirty="0"/>
              <a:t>High vacancies + low applications per vacancy + high salary</a:t>
            </a:r>
            <a:br>
              <a:rPr lang="en-GB" dirty="0"/>
            </a:br>
            <a:r>
              <a:rPr lang="en-GB" dirty="0"/>
              <a:t>→ possible skills mismatch or specialised talent shortage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Category C:</a:t>
            </a:r>
            <a:br>
              <a:rPr lang="en-GB" dirty="0"/>
            </a:br>
            <a:r>
              <a:rPr lang="en-GB" dirty="0"/>
              <a:t>High applications per vacancy</a:t>
            </a:r>
            <a:br>
              <a:rPr lang="en-GB" dirty="0"/>
            </a:br>
            <a:r>
              <a:rPr lang="en-GB" dirty="0"/>
              <a:t>→ stronger applicant interest relative to demand</a:t>
            </a:r>
          </a:p>
          <a:p>
            <a:r>
              <a:rPr lang="en-GB" dirty="0"/>
              <a:t>→ less likely to be a shortage signal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CEF301-917E-42F7-AD4F-02B285FE43B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654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7818-2023-236E-4A1A-C0B849373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903B1-567E-E0D1-1440-E31DC02A4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0BF59-9777-093B-C44F-F2F96C46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3DA2E-AA36-8CD5-5A9B-061320AA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FCB7-EF01-7C3E-09E6-E1ADFCF8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397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0C88-74B9-32C6-2496-AFB1D530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91A4-2056-2BD6-ED7D-9B602F26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3EF9-F7B4-1493-EF05-F3EF3948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CE7EF-DB67-D62C-EB24-264626DB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1BFC7-7444-5B6B-E840-4A80818C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09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BD6B-24DA-F834-3D2D-CD19DC82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C52C9-E53B-4E1E-4972-3DD170DBE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CB782-4F8F-6151-088C-60745945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2618-00A6-72EB-7769-4ABD59E2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77093-4371-D114-D94C-178E136B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60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4471-64F2-CA33-0C48-18D421FE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3B982-88C8-0B1E-F7B6-13C23AA0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5D0B6-FAB6-F13C-B2A0-5264061AA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8F339-5E10-FF85-A19F-A9CFFAA3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2DC86-74E7-AAD5-5565-7278A9D0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A50B0-7820-2B11-C9B8-E0870FC8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265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41CF-75EA-1667-6732-F06C4093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A6355-0B6B-7DB3-CD22-311B0E081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21D0B-675A-8C01-30AA-4DE26B25C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E4687-140D-E087-005B-503FE219B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BD213-A439-8258-B549-9299E0919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2659F-0577-8FF3-29CC-9CC2F06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6E0B8-93AC-90EF-1275-9202EFE6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F8414-3CD6-E396-F3A1-16BE81A4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877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9D7F-F57D-4585-3623-9C0D67EC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CC3DF-E03C-96AF-8842-57017A44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C9D72-CB29-0E7B-3B54-8FBA5F30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11A84-952A-33EB-A5C9-E571EA86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599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2EE8-F8E1-D4F3-12E5-F74F505D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974D4-10F3-5468-6324-32750D02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7A90D-2FFA-C962-71C6-330A2A95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909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05BC-6C02-5B0B-1790-F2815160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5E89-A1DF-D712-9792-F1EC6B41D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0F4D-3E40-1673-E204-817DC0A60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D0A35-E192-B934-73B2-1ABFA96E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0292-C49A-D7D3-C9C9-E26803E2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F74F5-56B8-C6E5-B5E1-432B03EE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832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A071-EA47-2297-C278-FF3DAB09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CFE27-8869-2852-9BB9-FF2F4DA7E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5FA5F-C6B6-D1C3-CB6A-8E623B30D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B281-F43A-FA1D-853F-175770D4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85A58-C8FA-5FB1-0385-A8CC103C8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C76DA-2F80-FA7C-80F1-53921C15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229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036E-6C04-F599-B292-11372FF9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221AA-6571-DEF2-6999-FE03B520E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52C1-5E82-CF7E-4431-41B8CE54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81EA-D520-C157-E98B-5F48BFB7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5041-8D64-7DBC-F920-76299377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068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A7919-AADD-EB73-928C-E948FF615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53A0D-8B27-27A1-6715-86D7B137F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21C85-6F3E-C6C7-5A86-1E82C083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F9B87-41AC-7DA8-0746-3D81B966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1E117-2A48-9717-2A5F-F47B71A9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079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9EBB7-E539-A808-DBA8-5D3EC724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54C03-3EB1-A638-4346-2AA969242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71519-B875-700C-506C-865D3B433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00C99-962C-445A-A64F-3D7D7906FF04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DB2E6-6CB3-D3AA-AADA-55DBEAF7D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32A01-0B42-9225-E404-5FB61E7F6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37D0F-D532-4CFB-A15E-E8C6C11103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427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3F078F-779F-2DA4-BADB-3EEB52E6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49717"/>
            <a:ext cx="9950945" cy="2852737"/>
          </a:xfrm>
        </p:spPr>
        <p:txBody>
          <a:bodyPr/>
          <a:lstStyle/>
          <a:p>
            <a:r>
              <a:rPr lang="en-GB" dirty="0"/>
              <a:t>Identifying Potential Talent Shortage Signals from Job Posting Data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E663F-3C88-6495-F5CB-E663C6052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SG" dirty="0"/>
              <a:t>DSAI 3F | Team 4</a:t>
            </a:r>
          </a:p>
          <a:p>
            <a:r>
              <a:rPr lang="en-SG" dirty="0"/>
              <a:t>Module 1 Project</a:t>
            </a:r>
          </a:p>
          <a:p>
            <a:r>
              <a:rPr lang="en-GB" dirty="0"/>
              <a:t>A </a:t>
            </a:r>
            <a:r>
              <a:rPr lang="en-GB" dirty="0" err="1"/>
              <a:t>DuckDB</a:t>
            </a:r>
            <a:r>
              <a:rPr lang="en-GB" dirty="0"/>
              <a:t> + </a:t>
            </a:r>
            <a:r>
              <a:rPr lang="en-GB" dirty="0" err="1"/>
              <a:t>Streamlit</a:t>
            </a:r>
            <a:r>
              <a:rPr lang="en-GB" dirty="0"/>
              <a:t> prototype for workforce planning and career-coaching insights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412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55BD-4C9B-DA25-2B1B-4640F0D19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Problem, Target User &amp; Value Proposition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7F0D4A-135C-304D-0652-377EC56AF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86340"/>
            <a:ext cx="946785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 Statement: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High hiring demand does not always mean strong applicant interest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Some job categories may have many postings or vacancies, but relatively fewer applications or views.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dirty="0"/>
              <a:t>This may point to hiring friction, unattractive roles, skills mismatch, or emerging talent shortages.</a:t>
            </a:r>
            <a:br>
              <a:rPr lang="en-GB" sz="1800" dirty="0"/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Users</a:t>
            </a:r>
            <a:endParaRPr lang="en-US" altLang="en-US" sz="1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Career coaches</a:t>
            </a:r>
            <a:endParaRPr lang="en-US" altLang="en-US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WSG/MOM workforce planner</a:t>
            </a:r>
            <a:r>
              <a:rPr lang="en-US" altLang="en-US" sz="1800" dirty="0"/>
              <a:t>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HR/recruitment analysts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Intended Outcome</a:t>
            </a:r>
            <a:endParaRPr lang="en-US" altLang="en-US" sz="1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job categories where demand is high but applicant engagement appears weak</a:t>
            </a:r>
            <a:endParaRPr lang="en-US" alt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Value Proposition: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dashboard helps users compare job demand, applicant interest, and salary attractiveness to support workforce planning, career guidance, and hiring strategy.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357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3FCE-BC8A-2CA5-882A-365104F2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 and Development 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D7AA57C-ABFD-6F50-51A1-5F9F56CB8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846995"/>
              </p:ext>
            </p:extLst>
          </p:nvPr>
        </p:nvGraphicFramePr>
        <p:xfrm>
          <a:off x="838200" y="1590675"/>
          <a:ext cx="10906125" cy="4562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79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34E3-7581-31BF-13E9-857C9CA3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38"/>
            <a:ext cx="10515600" cy="1325563"/>
          </a:xfrm>
        </p:spPr>
        <p:txBody>
          <a:bodyPr/>
          <a:lstStyle/>
          <a:p>
            <a:r>
              <a:rPr lang="en-GB" dirty="0"/>
              <a:t>Data Model: </a:t>
            </a:r>
            <a:br>
              <a:rPr lang="en-GB" dirty="0"/>
            </a:br>
            <a:r>
              <a:rPr lang="en-GB" dirty="0"/>
              <a:t>From Raw CSV to Analysis-Ready Tables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0E1C1-DF13-44F1-5DDE-D0166363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68" y="1957387"/>
            <a:ext cx="4887165" cy="3991093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F43AE806-9F35-1A84-D9A0-F753EDBFDBC1}"/>
              </a:ext>
            </a:extLst>
          </p:cNvPr>
          <p:cNvSpPr/>
          <p:nvPr/>
        </p:nvSpPr>
        <p:spPr>
          <a:xfrm>
            <a:off x="5276602" y="1821657"/>
            <a:ext cx="676275" cy="4300537"/>
          </a:xfrm>
          <a:prstGeom prst="rightBrace">
            <a:avLst>
              <a:gd name="adj1" fmla="val 8333"/>
              <a:gd name="adj2" fmla="val 876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BD429-0C3E-8122-DDA9-61D559AD0A41}"/>
              </a:ext>
            </a:extLst>
          </p:cNvPr>
          <p:cNvSpPr txBox="1"/>
          <p:nvPr/>
        </p:nvSpPr>
        <p:spPr>
          <a:xfrm>
            <a:off x="6009782" y="1786396"/>
            <a:ext cx="53440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design choices: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raw CSV contained multi-valued category data, where a job posting can belong to multiple categories, so we used </a:t>
            </a:r>
            <a:r>
              <a:rPr lang="en-GB" sz="1600" dirty="0" err="1"/>
              <a:t>job_category</a:t>
            </a:r>
            <a:r>
              <a:rPr lang="en-GB" sz="1600" dirty="0"/>
              <a:t> as a bridge table between </a:t>
            </a:r>
            <a:r>
              <a:rPr lang="en-GB" sz="1600" dirty="0" err="1"/>
              <a:t>job_posting</a:t>
            </a:r>
            <a:r>
              <a:rPr lang="en-GB" sz="1600" dirty="0"/>
              <a:t> and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i="1" dirty="0"/>
              <a:t>category table</a:t>
            </a:r>
            <a:br>
              <a:rPr lang="en-GB" sz="1600" dirty="0"/>
            </a:br>
            <a:r>
              <a:rPr lang="en-GB" sz="1600" dirty="0"/>
              <a:t>Stores each category once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i="1" dirty="0" err="1"/>
              <a:t>job_category</a:t>
            </a:r>
            <a:r>
              <a:rPr lang="en-GB" sz="1600" i="1" dirty="0"/>
              <a:t> table </a:t>
            </a:r>
            <a:r>
              <a:rPr lang="en-GB" sz="1600" dirty="0"/>
              <a:t>-&gt; bridging table</a:t>
            </a:r>
            <a:br>
              <a:rPr lang="en-GB" sz="1600" dirty="0"/>
            </a:br>
            <a:r>
              <a:rPr lang="en-GB" sz="1600" dirty="0"/>
              <a:t>Acts as the bridge table between </a:t>
            </a:r>
            <a:r>
              <a:rPr lang="en-GB" sz="1600" dirty="0" err="1"/>
              <a:t>job_posting</a:t>
            </a:r>
            <a:r>
              <a:rPr lang="en-GB" sz="1600" dirty="0"/>
              <a:t> and category, because one job posting can belong to multiple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Views allow the dashboard to query clean, analysis-ready data instead of repeatedly joining raw tables</a:t>
            </a:r>
            <a:endParaRPr lang="en-SG" sz="1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90835B-B1EF-CF02-BFB8-D1D5EF0012B4}"/>
              </a:ext>
            </a:extLst>
          </p:cNvPr>
          <p:cNvGrpSpPr/>
          <p:nvPr/>
        </p:nvGrpSpPr>
        <p:grpSpPr>
          <a:xfrm>
            <a:off x="6239125" y="5140240"/>
            <a:ext cx="5487143" cy="1616480"/>
            <a:chOff x="6096000" y="4916775"/>
            <a:chExt cx="5487143" cy="16164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42372B-DF15-8CFC-D021-186277F3973C}"/>
                </a:ext>
              </a:extLst>
            </p:cNvPr>
            <p:cNvSpPr txBox="1"/>
            <p:nvPr/>
          </p:nvSpPr>
          <p:spPr>
            <a:xfrm>
              <a:off x="6096000" y="4932817"/>
              <a:ext cx="548714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dirty="0" err="1"/>
                <a:t>vw_talent_shortage_categories</a:t>
              </a:r>
              <a:br>
                <a:rPr lang="en-GB" sz="1400" dirty="0"/>
              </a:br>
              <a:r>
                <a:rPr lang="en-GB" sz="1400" dirty="0"/>
                <a:t>A category-level view for demand, applications, views, and salary metrics</a:t>
              </a:r>
            </a:p>
            <a:p>
              <a:endParaRPr lang="en-GB" sz="1400" dirty="0"/>
            </a:p>
            <a:p>
              <a:r>
                <a:rPr lang="en-GB" sz="1400" b="1" dirty="0" err="1"/>
                <a:t>vw_career_coach_jobs</a:t>
              </a:r>
              <a:br>
                <a:rPr lang="en-GB" sz="1400" dirty="0"/>
              </a:br>
              <a:r>
                <a:rPr lang="en-GB" sz="1400" dirty="0"/>
                <a:t>A joined analysis view used by the dashboard.</a:t>
              </a:r>
              <a:br>
                <a:rPr lang="en-GB" sz="1400" dirty="0"/>
              </a:br>
              <a:br>
                <a:rPr lang="en-GB" sz="1400" dirty="0"/>
              </a:br>
              <a:r>
                <a:rPr lang="en-GB" sz="1400" dirty="0"/>
                <a:t>.</a:t>
              </a:r>
              <a:endParaRPr lang="en-SG" sz="14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1152F6-AEA1-0DFA-ED13-095F4C9A41D6}"/>
                </a:ext>
              </a:extLst>
            </p:cNvPr>
            <p:cNvSpPr/>
            <p:nvPr/>
          </p:nvSpPr>
          <p:spPr>
            <a:xfrm>
              <a:off x="6096000" y="5563967"/>
              <a:ext cx="2562226" cy="261937"/>
            </a:xfrm>
            <a:prstGeom prst="rect">
              <a:avLst/>
            </a:prstGeom>
            <a:solidFill>
              <a:srgbClr val="3168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 err="1"/>
                <a:t>vw_career_coach_jobs</a:t>
              </a:r>
              <a:endParaRPr lang="en-SG" sz="14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42631A-35DB-AB9D-D5D2-CE17F85CBB1A}"/>
                </a:ext>
              </a:extLst>
            </p:cNvPr>
            <p:cNvSpPr/>
            <p:nvPr/>
          </p:nvSpPr>
          <p:spPr>
            <a:xfrm>
              <a:off x="6096000" y="4916775"/>
              <a:ext cx="2562226" cy="261937"/>
            </a:xfrm>
            <a:prstGeom prst="rect">
              <a:avLst/>
            </a:prstGeom>
            <a:solidFill>
              <a:srgbClr val="3168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 err="1"/>
                <a:t>vw_talent_shortage_categories</a:t>
              </a:r>
              <a:endParaRPr lang="en-SG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1227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E262-0118-B4A2-724F-35C0B02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49" y="1528762"/>
            <a:ext cx="9934576" cy="483393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SG" sz="1800" dirty="0"/>
              <a:t>Demand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SG" sz="1800" dirty="0"/>
              <a:t>Total job postings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SG" sz="1800" dirty="0"/>
              <a:t>Total vacancies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Applicant Interest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Applications per vacancy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Views per posting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Salary Context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dirty="0"/>
              <a:t>Median average salary</a:t>
            </a:r>
            <a:r>
              <a:rPr lang="en-SG" sz="1800" baseline="30000" dirty="0"/>
              <a:t>1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Scoring Logic</a:t>
            </a:r>
            <a:r>
              <a:rPr lang="en-SG" sz="1800" baseline="30000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Demand Score </a:t>
            </a:r>
            <a:r>
              <a:rPr lang="en-SG" sz="1800" dirty="0"/>
              <a:t>= 50% Job Posting Demand Score + 50% Vacancy Demand Score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Weak Interest Score</a:t>
            </a:r>
            <a:r>
              <a:rPr lang="en-SG" sz="1800" b="1" baseline="30000" dirty="0"/>
              <a:t>3</a:t>
            </a:r>
            <a:r>
              <a:rPr lang="en-SG" sz="1800" b="1" dirty="0"/>
              <a:t> </a:t>
            </a:r>
            <a:r>
              <a:rPr lang="en-SG" sz="1800" dirty="0"/>
              <a:t>= 70% Low Application Score + 30% Low View Score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SG" sz="1800" b="1" dirty="0"/>
              <a:t>Talent Shortage Signal Score </a:t>
            </a:r>
            <a:r>
              <a:rPr lang="en-SG" sz="1800" dirty="0"/>
              <a:t>= 60% Demand Score+ 40% Weak Interest Score</a:t>
            </a:r>
            <a:br>
              <a:rPr lang="en-SG" sz="1800" dirty="0"/>
            </a:br>
            <a:br>
              <a:rPr lang="en-SG" sz="1800" dirty="0"/>
            </a:br>
            <a:endParaRPr lang="en-SG" sz="1800" dirty="0"/>
          </a:p>
          <a:p>
            <a:pPr marL="0" indent="0">
              <a:buNone/>
            </a:pPr>
            <a:r>
              <a:rPr lang="en-GB" sz="1200" dirty="0"/>
              <a:t>1. Median average salary is used as supporting context to interpret whether weak interest may be linked to salary attractiveness or skills mismatch</a:t>
            </a:r>
            <a:br>
              <a:rPr lang="en-GB" sz="1200" dirty="0"/>
            </a:br>
            <a:r>
              <a:rPr lang="en-GB" sz="1200" dirty="0"/>
              <a:t>2. Prototype weighting for explainable scoring</a:t>
            </a:r>
            <a:br>
              <a:rPr lang="en-GB" sz="1200" dirty="0"/>
            </a:br>
            <a:r>
              <a:rPr lang="en-GB" sz="1200" dirty="0"/>
              <a:t>3. Applications are weighted more heavily because applying is a stronger signal than viewing</a:t>
            </a:r>
          </a:p>
          <a:p>
            <a:pPr marL="0" indent="0">
              <a:buNone/>
            </a:pPr>
            <a:endParaRPr lang="en-SG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27E9F-D6FE-FB25-D2F8-7E5A1348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Talent Shortage Signal Logic</a:t>
            </a:r>
            <a:br>
              <a:rPr lang="en-SG" dirty="0"/>
            </a:b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5EDE7D-FBDB-3902-871F-D60A5B5D9E12}"/>
              </a:ext>
            </a:extLst>
          </p:cNvPr>
          <p:cNvSpPr/>
          <p:nvPr/>
        </p:nvSpPr>
        <p:spPr>
          <a:xfrm>
            <a:off x="4976812" y="1847057"/>
            <a:ext cx="5110163" cy="2338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SG" b="1" dirty="0">
                <a:solidFill>
                  <a:schemeClr val="tx1"/>
                </a:solidFill>
              </a:rPr>
              <a:t>Key 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solidFill>
                  <a:schemeClr val="tx1"/>
                </a:solidFill>
              </a:rPr>
              <a:t>Scores are indicative and are</a:t>
            </a:r>
            <a:r>
              <a:rPr lang="en-GB" dirty="0">
                <a:solidFill>
                  <a:schemeClr val="tx1"/>
                </a:solidFill>
              </a:rPr>
              <a:t> proxy signals, not proof of an actual labour shortage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Salary is used as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High demand + weak interest + low salary may suggest role unattractiveness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High demand + weak interest + high salary may suggest skills mismatch or scarce talent</a:t>
            </a:r>
          </a:p>
        </p:txBody>
      </p:sp>
    </p:spTree>
    <p:extLst>
      <p:ext uri="{BB962C8B-B14F-4D97-AF65-F5344CB8AC3E}">
        <p14:creationId xmlns:p14="http://schemas.microsoft.com/office/powerpoint/2010/main" val="251107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D095-E81B-09B5-06E1-FCC920C3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Some key learnings/challenges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4F81-6DDA-5585-9206-FECE92A7F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/>
              <a:t>Messy real-world data needs modelling before dashboarding</a:t>
            </a:r>
          </a:p>
          <a:p>
            <a:pPr lvl="1"/>
            <a:r>
              <a:rPr lang="en-GB" sz="2000" dirty="0"/>
              <a:t>The categories field was multi-valued and required parsing before it could be analysed properly</a:t>
            </a:r>
          </a:p>
          <a:p>
            <a:r>
              <a:rPr lang="en-GB" sz="2000" b="1" dirty="0"/>
              <a:t>Many-to-many relationships matter</a:t>
            </a:r>
          </a:p>
          <a:p>
            <a:pPr lvl="1"/>
            <a:r>
              <a:rPr lang="en-GB" sz="2000" dirty="0"/>
              <a:t>A job posting can belong to multiple categories, so we needed a </a:t>
            </a:r>
            <a:r>
              <a:rPr lang="en-GB" sz="2000" dirty="0" err="1"/>
              <a:t>job_category</a:t>
            </a:r>
            <a:r>
              <a:rPr lang="en-GB" sz="2000" dirty="0"/>
              <a:t> bridge table</a:t>
            </a:r>
          </a:p>
          <a:p>
            <a:r>
              <a:rPr lang="en-GB" sz="2000" b="1" dirty="0"/>
              <a:t>Views simplify analysis</a:t>
            </a:r>
          </a:p>
          <a:p>
            <a:pPr lvl="1"/>
            <a:r>
              <a:rPr lang="en-GB" sz="2000" dirty="0" err="1"/>
              <a:t>vw_career_coach_jobs</a:t>
            </a:r>
            <a:r>
              <a:rPr lang="en-GB" sz="2000" dirty="0"/>
              <a:t> and </a:t>
            </a:r>
            <a:r>
              <a:rPr lang="en-GB" sz="2000" dirty="0" err="1"/>
              <a:t>vw_talent_shortage_categories</a:t>
            </a:r>
            <a:r>
              <a:rPr lang="en-GB" sz="2000" dirty="0"/>
              <a:t> made the dashboard easier to query and maintain</a:t>
            </a:r>
          </a:p>
          <a:p>
            <a:r>
              <a:rPr lang="en-GB" sz="2000" b="1" dirty="0" err="1"/>
              <a:t>Streamlit</a:t>
            </a:r>
            <a:r>
              <a:rPr lang="en-GB" sz="2000" b="1" dirty="0"/>
              <a:t> reruns from top to bottom</a:t>
            </a:r>
          </a:p>
          <a:p>
            <a:pPr lvl="1"/>
            <a:r>
              <a:rPr lang="en-GB" sz="2000" dirty="0"/>
              <a:t>The dashboard filters change SQL queries, which refresh the </a:t>
            </a:r>
            <a:r>
              <a:rPr lang="en-GB" sz="2000" dirty="0" err="1"/>
              <a:t>DataFrames</a:t>
            </a:r>
            <a:r>
              <a:rPr lang="en-GB" sz="2000" dirty="0"/>
              <a:t>, tables, and charts.</a:t>
            </a:r>
          </a:p>
          <a:p>
            <a:r>
              <a:rPr lang="en-GB" sz="2000" b="1" dirty="0"/>
              <a:t>Metrics need careful interpretation</a:t>
            </a:r>
          </a:p>
          <a:p>
            <a:pPr lvl="1"/>
            <a:r>
              <a:rPr lang="en-GB" sz="2000" dirty="0"/>
              <a:t>The talent shortage score is useful as a signal, but it should not be treated as confirmed labour market truth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97976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27CD-941C-D204-F9B1-E2C7DD3F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DFE22-53BD-05FC-49A0-D688041422AC}"/>
              </a:ext>
            </a:extLst>
          </p:cNvPr>
          <p:cNvSpPr txBox="1"/>
          <p:nvPr/>
        </p:nvSpPr>
        <p:spPr>
          <a:xfrm>
            <a:off x="838200" y="2041198"/>
            <a:ext cx="103107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800" dirty="0"/>
              <a:t>Show Talent Shortage Signals tab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Adjust global filters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Explain how the score changes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Compare with Market Demand and Salary Ranges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Show how this supports workforce planning or coaching discussion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45665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865</Words>
  <Application>Microsoft Office PowerPoint</Application>
  <PresentationFormat>Widescreen</PresentationFormat>
  <Paragraphs>86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Identifying Potential Talent Shortage Signals from Job Posting Data</vt:lpstr>
      <vt:lpstr>Problem, Target User &amp; Value Proposition</vt:lpstr>
      <vt:lpstr>Data and Development Flow</vt:lpstr>
      <vt:lpstr>Data Model:  From Raw CSV to Analysis-Ready Tables</vt:lpstr>
      <vt:lpstr>Talent Shortage Signal Logic </vt:lpstr>
      <vt:lpstr>Some key learnings/challenges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Kenny Wong</dc:creator>
  <cp:lastModifiedBy>Kenny Wong</cp:lastModifiedBy>
  <cp:revision>5</cp:revision>
  <dcterms:created xsi:type="dcterms:W3CDTF">2026-05-13T08:55:21Z</dcterms:created>
  <dcterms:modified xsi:type="dcterms:W3CDTF">2026-05-13T15:21:32Z</dcterms:modified>
</cp:coreProperties>
</file>